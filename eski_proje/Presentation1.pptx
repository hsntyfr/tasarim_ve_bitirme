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8" r:id="rId4"/>
    <p:sldId id="260" r:id="rId5"/>
    <p:sldId id="266" r:id="rId6"/>
    <p:sldId id="259" r:id="rId7"/>
    <p:sldId id="262" r:id="rId8"/>
    <p:sldId id="261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3"/>
  </p:normalViewPr>
  <p:slideViewPr>
    <p:cSldViewPr snapToGrid="0">
      <p:cViewPr varScale="1">
        <p:scale>
          <a:sx n="115" d="100"/>
          <a:sy n="115" d="100"/>
        </p:scale>
        <p:origin x="6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84DA-E3E0-4099-8BC4-1813584CD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6415" y="800100"/>
            <a:ext cx="8447314" cy="3314694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BD63B-9405-4E42-9E2F-07573F9B1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6415" y="4909459"/>
            <a:ext cx="8292874" cy="914395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8D03A-9A11-476C-B52A-593F3C019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A0168-EB40-45AF-89A1-87DE0A55FFC6}" type="datetime1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50CD1-7906-4885-9A4D-B764220D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ECA96-1AD5-41FE-AB5C-68ABD652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09E39A-DA3F-4BDC-A89A-6545C1DD3721}"/>
              </a:ext>
            </a:extLst>
          </p:cNvPr>
          <p:cNvCxnSpPr>
            <a:cxnSpLocks/>
          </p:cNvCxnSpPr>
          <p:nvPr/>
        </p:nvCxnSpPr>
        <p:spPr>
          <a:xfrm>
            <a:off x="360154" y="4602664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25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BEE8-2E4A-4A4A-833E-89D8D794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45914"/>
            <a:ext cx="9527275" cy="124194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6CFDA-CDBF-4B24-9EC3-827F540F7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8595"/>
            <a:ext cx="9527275" cy="3643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5871D-4A14-4A17-A0ED-7DDA7752B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88F0-556B-4BB7-8AAB-D63AEB65C662}" type="datetime1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BD654-899B-4DAF-93B9-1CBCAB5F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F7FCA-B968-443D-90A7-E0F3C6D6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F5CC56-CBE8-4152-AD5E-982DD286AA28}"/>
              </a:ext>
            </a:extLst>
          </p:cNvPr>
          <p:cNvCxnSpPr>
            <a:cxnSpLocks/>
          </p:cNvCxnSpPr>
          <p:nvPr/>
        </p:nvCxnSpPr>
        <p:spPr>
          <a:xfrm>
            <a:off x="386707" y="1905000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666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95B8-786F-418B-9367-52B19526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3426"/>
            <a:ext cx="8840344" cy="34890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CF574-9044-4964-B6AE-A3983D595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8488"/>
            <a:ext cx="8840344" cy="900772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2A109-E9F9-428E-858A-38375BF1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05506-6815-4E0E-B1DE-ECA35C2016DF}" type="datetime1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9BA6F-665B-4D62-84D1-23E03428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1A2D7-4390-4B51-90D4-900EAAB1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8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166EE-5127-48B4-A6F6-F5F6B38D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87828"/>
            <a:ext cx="9578683" cy="990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7B8A9-5914-49F9-8E0E-C8723C533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057407"/>
            <a:ext cx="4318906" cy="3725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7D0C2-CAEA-4E31-8FA6-D866315DF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9577" y="2057407"/>
            <a:ext cx="4405746" cy="37251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E5DE2-0BD6-45B3-BDB1-675BA058B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85F7-A724-48A4-9D33-CEBC5174E865}" type="datetime1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622B7-97C1-4C72-BCA9-290DC716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7BEE3-B3AE-45B6-924A-08ABC951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10397D-8A25-4307-B58D-8DE617EFD26D}"/>
              </a:ext>
            </a:extLst>
          </p:cNvPr>
          <p:cNvCxnSpPr>
            <a:cxnSpLocks/>
          </p:cNvCxnSpPr>
          <p:nvPr/>
        </p:nvCxnSpPr>
        <p:spPr>
          <a:xfrm>
            <a:off x="375523" y="1760404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747697-5C57-4DA6-8ED6-CAB14CDD220A}"/>
              </a:ext>
            </a:extLst>
          </p:cNvPr>
          <p:cNvCxnSpPr>
            <a:cxnSpLocks/>
          </p:cNvCxnSpPr>
          <p:nvPr/>
        </p:nvCxnSpPr>
        <p:spPr>
          <a:xfrm>
            <a:off x="5563342" y="1752600"/>
            <a:ext cx="0" cy="430010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982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2296-2B01-4044-AD7B-497BAC8A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09600"/>
            <a:ext cx="10515600" cy="95149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08880-DE5D-4299-BAC3-D45377C49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989859"/>
            <a:ext cx="4381644" cy="60267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A655D-7A3A-4BA5-B82A-744276BE2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713126"/>
            <a:ext cx="4381644" cy="31213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37933-BDAC-4317-9B7E-E30CF0B42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50530" y="1989859"/>
            <a:ext cx="4487137" cy="60267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5878F-AE56-4F8C-A84A-A8534180D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50531" y="2713127"/>
            <a:ext cx="4487136" cy="3121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F249A-9D93-4A8E-9284-5AB19AC0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06E7A-BDD3-46A3-BEE2-EB821F9236B4}" type="datetime1">
              <a:rPr lang="en-US" smtClean="0"/>
              <a:t>7/18/25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563883-9438-44C9-877E-EC771D1B3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ED3CC-D7BA-43BD-973A-B09921FE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B03ADF-AEED-49C1-9CF7-7749387E2A4F}"/>
              </a:ext>
            </a:extLst>
          </p:cNvPr>
          <p:cNvCxnSpPr>
            <a:cxnSpLocks/>
          </p:cNvCxnSpPr>
          <p:nvPr/>
        </p:nvCxnSpPr>
        <p:spPr>
          <a:xfrm>
            <a:off x="378503" y="1752600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5345CA-2FC8-42B9-85F7-84F77724D011}"/>
              </a:ext>
            </a:extLst>
          </p:cNvPr>
          <p:cNvCxnSpPr>
            <a:cxnSpLocks/>
          </p:cNvCxnSpPr>
          <p:nvPr/>
        </p:nvCxnSpPr>
        <p:spPr>
          <a:xfrm>
            <a:off x="5563342" y="1752600"/>
            <a:ext cx="0" cy="4300105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54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8770-E2EE-4C9B-9F89-128DAC66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116" y="703687"/>
            <a:ext cx="9406190" cy="17225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CE391-8E22-4716-8A8B-C39BA61A7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1540C-9440-4E7A-B71A-BEFEE06869E3}" type="datetime1">
              <a:rPr lang="en-US" smtClean="0"/>
              <a:t>7/18/25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C042F-179F-4DBC-80B7-34B89EA2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86EA4-4BE5-4D17-A1DC-196FEA97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7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649B6B-2C1C-452D-9F93-BD9A6F2B0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18DDB-88AC-4039-B59C-B05DC4C9C16C}" type="datetime1">
              <a:rPr lang="en-US" smtClean="0"/>
              <a:t>7/18/25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CA8ED-78AC-4474-8874-E4C42429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0B764-0B68-4801-ADE7-93105912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13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717A-ED7D-43FE-881F-9407FF22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97476"/>
            <a:ext cx="3932237" cy="169371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FE954-332E-4D66-AFFD-A15389A76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597475"/>
            <a:ext cx="5140180" cy="526357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15CDA-9FC3-4F17-963C-DD9E226EC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1194"/>
            <a:ext cx="3932237" cy="357779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30BE-8EE8-4A41-B20E-ACEFC980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2ABFB-60E7-4BA1-866A-7059F058065B}" type="datetime1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B6719-F550-42EF-B377-8E41A46D0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A6636-5EF9-499C-A3A0-3021812D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3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38CB-27F1-47CF-B05A-CC068830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59822"/>
            <a:ext cx="3932237" cy="165215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9C67EA-3155-4708-9B86-D7B2B54FC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03687"/>
            <a:ext cx="5212917" cy="49690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434F1-C813-4E9B-98A4-B0B372CE2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26277"/>
            <a:ext cx="3932237" cy="32464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A0B8-75E7-465D-84CB-BC9C3FB2F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4112F-55F4-4776-A323-7418930321C8}" type="datetime1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879C9-B751-43BD-8B27-FA18290E1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998FB-27B9-46E5-90E3-09B108B0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1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B4882-AC48-4F1E-837D-E154BEED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439"/>
            <a:ext cx="9613106" cy="12828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D34B7-C335-425E-BF89-DB1A0C235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914525"/>
            <a:ext cx="9613106" cy="3883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63754-C885-4DC6-962D-C861267B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CA68F-747D-436A-B5BB-2EBC3ED499E4}" type="datetime1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C9693-03CD-4EBD-A3D7-BE310CD5F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BBD01-5E50-4FF1-A1D6-B24B7B75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10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A1D39-AB23-4CEE-BBAA-55B29415D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78644"/>
            <a:ext cx="1912144" cy="5272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20688-FA9B-4ABD-9E9E-C7EADE949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2" y="578643"/>
            <a:ext cx="7943848" cy="5272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B1A6B-AE19-4BD4-AE49-43E78CC0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8DC11-9E39-40A0-B3DC-E3F2AD04A616}" type="datetime1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62144-27EE-4CE0-B167-F5DBA41B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A40B2-EFB0-47EA-878B-6405E1DC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7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BA68A5-A7C7-4D91-AB95-6E0B6FFD87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F93EBF-655A-4373-ADBE-9606BFA9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439"/>
            <a:ext cx="9485160" cy="12828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2994-4D2E-43BB-9D9B-117ED94AB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91757"/>
            <a:ext cx="9485163" cy="3706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28926-9DF1-4A3E-8B81-2191D6F75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2" y="6140304"/>
            <a:ext cx="3154896" cy="287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300" baseline="0">
                <a:solidFill>
                  <a:schemeClr val="accent1"/>
                </a:solidFill>
              </a:defRPr>
            </a:lvl1pPr>
          </a:lstStyle>
          <a:p>
            <a:fld id="{CFBEA57F-793F-4683-BD8A-741FD4B89154}" type="datetime1">
              <a:rPr lang="en-US" smtClean="0"/>
              <a:t>7/18/25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1BD4F-CE83-48A3-9683-19CF03C0A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233562" y="257852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 cap="all" spc="300" baseline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94939-09B3-4A6E-88F8-4D923A56D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1701" y="5672706"/>
            <a:ext cx="951908" cy="754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fld id="{81D2C36F-4504-47C0-B82F-A167342A27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051E3-92B2-42FC-BB3D-372E4A614439}"/>
              </a:ext>
            </a:extLst>
          </p:cNvPr>
          <p:cNvSpPr/>
          <p:nvPr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425084-C97A-4C25-AE47-DDECF2DD3ABC}"/>
              </a:ext>
            </a:extLst>
          </p:cNvPr>
          <p:cNvCxnSpPr>
            <a:cxnSpLocks/>
          </p:cNvCxnSpPr>
          <p:nvPr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A478A1-0B34-4F2B-88FA-CF47551E5DF9}"/>
              </a:ext>
            </a:extLst>
          </p:cNvPr>
          <p:cNvCxnSpPr>
            <a:cxnSpLocks/>
          </p:cNvCxnSpPr>
          <p:nvPr/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362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hthasantayfur@gmail.co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551580BD-7D80-4957-A58D-916E994AB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DB74EA8-7034-4C30-9C00-B9548577C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0266B855-3C0E-1504-6033-B62584963A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4556" b="19194"/>
          <a:stretch>
            <a:fillRect/>
          </a:stretch>
        </p:blipFill>
        <p:spPr>
          <a:xfrm>
            <a:off x="1" y="256488"/>
            <a:ext cx="12191999" cy="6857989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CB59DE95-F3B9-4A35-9681-78FA926F0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rgbClr val="FFFFFF"/>
            </a:solidFill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4E0F06-D41E-736E-5BE2-634204962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613" y="880744"/>
            <a:ext cx="5686041" cy="4791953"/>
          </a:xfrm>
        </p:spPr>
        <p:txBody>
          <a:bodyPr anchor="ctr">
            <a:normAutofit/>
          </a:bodyPr>
          <a:lstStyle/>
          <a:p>
            <a:pPr algn="ctr"/>
            <a:r>
              <a:rPr lang="en-US" sz="3300" dirty="0"/>
              <a:t>STM32 </a:t>
            </a:r>
            <a:r>
              <a:rPr lang="en-US" sz="3300" dirty="0" err="1"/>
              <a:t>Tabanlı</a:t>
            </a:r>
            <a:r>
              <a:rPr lang="en-US" sz="3300" dirty="0"/>
              <a:t> </a:t>
            </a:r>
            <a:r>
              <a:rPr lang="en-US" sz="3300" dirty="0" err="1"/>
              <a:t>Gömülü</a:t>
            </a:r>
            <a:r>
              <a:rPr lang="en-US" sz="3300" dirty="0"/>
              <a:t> </a:t>
            </a:r>
            <a:r>
              <a:rPr lang="en-US" sz="3300" dirty="0" err="1"/>
              <a:t>Sistemler</a:t>
            </a:r>
            <a:r>
              <a:rPr lang="en-US" sz="3300" dirty="0"/>
              <a:t> </a:t>
            </a:r>
            <a:r>
              <a:rPr lang="en-US" sz="3300" dirty="0" err="1"/>
              <a:t>için</a:t>
            </a:r>
            <a:r>
              <a:rPr lang="en-US" sz="3300" dirty="0"/>
              <a:t> </a:t>
            </a:r>
            <a:r>
              <a:rPr lang="en-US" sz="3300" dirty="0" err="1"/>
              <a:t>Bütünlük</a:t>
            </a:r>
            <a:r>
              <a:rPr lang="en-US" sz="3300" dirty="0"/>
              <a:t> </a:t>
            </a:r>
            <a:r>
              <a:rPr lang="en-US" sz="3300" dirty="0" err="1"/>
              <a:t>ve</a:t>
            </a:r>
            <a:r>
              <a:rPr lang="en-US" sz="3300" dirty="0"/>
              <a:t> </a:t>
            </a:r>
            <a:r>
              <a:rPr lang="en-US" sz="3300" dirty="0" err="1"/>
              <a:t>Kimlik</a:t>
            </a:r>
            <a:r>
              <a:rPr lang="en-US" sz="3300" dirty="0"/>
              <a:t> </a:t>
            </a:r>
            <a:r>
              <a:rPr lang="en-US" sz="3300" dirty="0" err="1"/>
              <a:t>Doğrulamalı</a:t>
            </a:r>
            <a:r>
              <a:rPr lang="en-US" sz="3300" dirty="0"/>
              <a:t> OTA </a:t>
            </a:r>
            <a:r>
              <a:rPr lang="en-US" sz="3300" dirty="0" err="1"/>
              <a:t>Yazılım</a:t>
            </a:r>
            <a:br>
              <a:rPr lang="en-US" sz="3300" dirty="0"/>
            </a:br>
            <a:r>
              <a:rPr lang="en-US" sz="3300" dirty="0" err="1"/>
              <a:t>Güncelleme</a:t>
            </a:r>
            <a:r>
              <a:rPr lang="en-US" sz="3300" dirty="0"/>
              <a:t> </a:t>
            </a:r>
            <a:r>
              <a:rPr lang="en-US" sz="3300" dirty="0" err="1"/>
              <a:t>Yöntemi</a:t>
            </a:r>
            <a:br>
              <a:rPr lang="en-US" dirty="0"/>
            </a:br>
            <a:endParaRPr lang="en-TR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5C85F4-2D2B-C8F5-D12A-9EA889281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9307" y="2307984"/>
            <a:ext cx="2634124" cy="3404528"/>
          </a:xfrm>
        </p:spPr>
        <p:txBody>
          <a:bodyPr anchor="ctr">
            <a:normAutofit/>
          </a:bodyPr>
          <a:lstStyle/>
          <a:p>
            <a:r>
              <a:rPr lang="en-TR" dirty="0">
                <a:solidFill>
                  <a:srgbClr val="FFFFFF"/>
                </a:solidFill>
              </a:rPr>
              <a:t>Hasan Tayfur</a:t>
            </a:r>
          </a:p>
          <a:p>
            <a:r>
              <a:rPr lang="en-TR" dirty="0">
                <a:solidFill>
                  <a:srgbClr val="FFFFFF"/>
                </a:solidFill>
              </a:rPr>
              <a:t>Sakarya Üniversitesi</a:t>
            </a:r>
          </a:p>
          <a:p>
            <a:r>
              <a:rPr lang="en-TR" dirty="0">
                <a:solidFill>
                  <a:srgbClr val="FFFFFF"/>
                </a:solidFill>
              </a:rPr>
              <a:t>Bilgisayar Mühendisliği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E687E3B-9C6D-4102-8F38-DCB77C49C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73C7C39-C73B-4051-B742-C9086B7B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F65C608-2429-428E-BDC9-29C15CF30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277100" y="345831"/>
            <a:ext cx="0" cy="5693702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310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815D-4080-E3B2-D2DF-ED8AFB10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Giriş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99B6C-8AF9-343F-5EA8-77CA5B8E8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b="1" dirty="0"/>
              <a:t>Neden</a:t>
            </a:r>
            <a:r>
              <a:rPr lang="en-TR" dirty="0"/>
              <a:t> bu konu seçildi -&gt; </a:t>
            </a:r>
            <a:r>
              <a:rPr lang="en-TR" b="1" dirty="0"/>
              <a:t>Erişim kısıtı </a:t>
            </a:r>
            <a:r>
              <a:rPr lang="en-TR" dirty="0"/>
              <a:t>bulunan veya </a:t>
            </a:r>
            <a:r>
              <a:rPr lang="en-TR" b="1" dirty="0"/>
              <a:t>çok sayıda </a:t>
            </a:r>
            <a:r>
              <a:rPr lang="en-TR" dirty="0"/>
              <a:t>ürün bulunan ortamlardaki(depo, arazi, cephanelik) </a:t>
            </a:r>
            <a:r>
              <a:rPr lang="en-TR" b="1" dirty="0"/>
              <a:t>gömülü yazılım </a:t>
            </a:r>
            <a:r>
              <a:rPr lang="en-TR" dirty="0"/>
              <a:t>barındıran cihazlar için </a:t>
            </a:r>
            <a:r>
              <a:rPr lang="en-TR" b="1" dirty="0"/>
              <a:t>yeni ve güvenilir</a:t>
            </a:r>
            <a:r>
              <a:rPr lang="en-TR" dirty="0"/>
              <a:t> bir güncelleme yöntemi önerilmesi.</a:t>
            </a:r>
          </a:p>
          <a:p>
            <a:r>
              <a:rPr lang="en-TR" b="1" dirty="0"/>
              <a:t>Hangi ihtiyacı </a:t>
            </a:r>
            <a:r>
              <a:rPr lang="en-TR" dirty="0"/>
              <a:t>karşılıyor -&gt; Cihaza ulaşmanın </a:t>
            </a:r>
            <a:r>
              <a:rPr lang="en-TR" b="1" dirty="0"/>
              <a:t>fiziksel</a:t>
            </a:r>
            <a:r>
              <a:rPr lang="en-TR" dirty="0"/>
              <a:t> olarak zorlu olduğu durumlarda veya tekil işlem yapılmasının </a:t>
            </a:r>
            <a:r>
              <a:rPr lang="en-TR" b="1" dirty="0"/>
              <a:t>zaman kaybettirdiği durumları </a:t>
            </a:r>
            <a:r>
              <a:rPr lang="en-TR" dirty="0"/>
              <a:t>en aza indirgeyip </a:t>
            </a:r>
            <a:r>
              <a:rPr lang="en-TR" b="1" dirty="0"/>
              <a:t>verimlilik artışı </a:t>
            </a:r>
            <a:r>
              <a:rPr lang="en-TR" dirty="0"/>
              <a:t>sağlanması.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2B863-6435-0A25-CFA7-2AD23725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8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F48A-9279-C6E5-ECD4-3BECDA4F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Problemin Tanımı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50DC-78EC-A5A7-CB1B-A4274AC2D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Gömülü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 </a:t>
            </a:r>
            <a:r>
              <a:rPr lang="en-US" dirty="0" err="1"/>
              <a:t>cihazlara</a:t>
            </a:r>
            <a:r>
              <a:rPr lang="en-US" dirty="0"/>
              <a:t> </a:t>
            </a:r>
            <a:r>
              <a:rPr lang="en-US" b="1" dirty="0" err="1"/>
              <a:t>fiziksel</a:t>
            </a:r>
            <a:r>
              <a:rPr lang="en-US" b="1" dirty="0"/>
              <a:t> </a:t>
            </a:r>
            <a:r>
              <a:rPr lang="en-US" b="1" dirty="0" err="1"/>
              <a:t>erişim</a:t>
            </a:r>
            <a:r>
              <a:rPr lang="en-US" b="1" dirty="0"/>
              <a:t> </a:t>
            </a:r>
            <a:r>
              <a:rPr lang="en-US" b="1" dirty="0" err="1"/>
              <a:t>zor</a:t>
            </a:r>
            <a:r>
              <a:rPr lang="en-US" dirty="0"/>
              <a:t> 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sahalarda</a:t>
            </a:r>
            <a:r>
              <a:rPr lang="en-US" dirty="0"/>
              <a:t> </a:t>
            </a:r>
            <a:r>
              <a:rPr lang="en-US" dirty="0" err="1"/>
              <a:t>erişim</a:t>
            </a:r>
            <a:r>
              <a:rPr lang="en-US" dirty="0"/>
              <a:t> </a:t>
            </a:r>
            <a:r>
              <a:rPr lang="en-US" dirty="0" err="1"/>
              <a:t>maliyetinin</a:t>
            </a:r>
            <a:r>
              <a:rPr lang="en-US" dirty="0"/>
              <a:t> </a:t>
            </a:r>
            <a:r>
              <a:rPr lang="en-US" dirty="0" err="1"/>
              <a:t>ciddi</a:t>
            </a:r>
            <a:r>
              <a:rPr lang="en-US" dirty="0"/>
              <a:t> </a:t>
            </a:r>
            <a:r>
              <a:rPr lang="en-US" dirty="0" err="1"/>
              <a:t>boyutlara</a:t>
            </a:r>
            <a:r>
              <a:rPr lang="en-US" dirty="0"/>
              <a:t> </a:t>
            </a:r>
            <a:r>
              <a:rPr lang="en-US" dirty="0" err="1"/>
              <a:t>ulaşması</a:t>
            </a:r>
            <a:r>
              <a:rPr lang="en-US" dirty="0"/>
              <a:t>.</a:t>
            </a:r>
          </a:p>
          <a:p>
            <a:r>
              <a:rPr lang="en-US" b="1" dirty="0" err="1"/>
              <a:t>Mevcut</a:t>
            </a:r>
            <a:r>
              <a:rPr lang="en-US" b="1" dirty="0"/>
              <a:t> </a:t>
            </a:r>
            <a:r>
              <a:rPr lang="en-US" b="1" dirty="0" err="1"/>
              <a:t>güncelleme</a:t>
            </a:r>
            <a:r>
              <a:rPr lang="en-US" b="1" dirty="0"/>
              <a:t> </a:t>
            </a:r>
            <a:r>
              <a:rPr lang="en-US" b="1" dirty="0" err="1"/>
              <a:t>yöntemleri</a:t>
            </a:r>
            <a:r>
              <a:rPr lang="en-US" dirty="0"/>
              <a:t> </a:t>
            </a:r>
            <a:r>
              <a:rPr lang="en-US" dirty="0" err="1"/>
              <a:t>çoğunlukla</a:t>
            </a:r>
            <a:r>
              <a:rPr lang="en-US" dirty="0"/>
              <a:t> </a:t>
            </a:r>
            <a:r>
              <a:rPr lang="en-US" b="1" dirty="0" err="1"/>
              <a:t>fiziksel</a:t>
            </a:r>
            <a:r>
              <a:rPr lang="en-US" b="1" dirty="0"/>
              <a:t> </a:t>
            </a:r>
            <a:r>
              <a:rPr lang="en-US" b="1" dirty="0" err="1"/>
              <a:t>bağlantı</a:t>
            </a:r>
            <a:r>
              <a:rPr lang="en-US" b="1" dirty="0"/>
              <a:t> </a:t>
            </a:r>
            <a:r>
              <a:rPr lang="en-US" dirty="0" err="1"/>
              <a:t>gerektiriyor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yüzden</a:t>
            </a:r>
            <a:r>
              <a:rPr lang="en-US" dirty="0"/>
              <a:t> </a:t>
            </a:r>
            <a:r>
              <a:rPr lang="en-US" dirty="0" err="1"/>
              <a:t>mevcut</a:t>
            </a:r>
            <a:r>
              <a:rPr lang="en-US" dirty="0"/>
              <a:t> </a:t>
            </a:r>
            <a:r>
              <a:rPr lang="en-US" dirty="0" err="1"/>
              <a:t>çözümler</a:t>
            </a:r>
            <a:r>
              <a:rPr lang="en-US" dirty="0"/>
              <a:t> </a:t>
            </a:r>
            <a:r>
              <a:rPr lang="en-US" b="1" dirty="0" err="1"/>
              <a:t>kompleks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 err="1"/>
              <a:t>verimsiz</a:t>
            </a:r>
            <a:r>
              <a:rPr lang="en-US" dirty="0"/>
              <a:t> </a:t>
            </a:r>
            <a:r>
              <a:rPr lang="en-US" dirty="0" err="1"/>
              <a:t>kalıyor</a:t>
            </a:r>
            <a:r>
              <a:rPr lang="en-US" dirty="0"/>
              <a:t>.</a:t>
            </a:r>
          </a:p>
          <a:p>
            <a:r>
              <a:rPr lang="en-US" dirty="0"/>
              <a:t>Depo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adetli</a:t>
            </a:r>
            <a:r>
              <a:rPr lang="en-US" dirty="0"/>
              <a:t> </a:t>
            </a:r>
            <a:r>
              <a:rPr lang="en-US" dirty="0" err="1"/>
              <a:t>mikrodenetleyici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geniş</a:t>
            </a:r>
            <a:r>
              <a:rPr lang="en-US" dirty="0"/>
              <a:t> </a:t>
            </a:r>
            <a:r>
              <a:rPr lang="en-US" dirty="0" err="1"/>
              <a:t>sahalarda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sayıda</a:t>
            </a:r>
            <a:r>
              <a:rPr lang="en-US" dirty="0"/>
              <a:t> </a:t>
            </a:r>
            <a:r>
              <a:rPr lang="en-US" dirty="0" err="1"/>
              <a:t>tekil</a:t>
            </a:r>
            <a:r>
              <a:rPr lang="en-US" dirty="0"/>
              <a:t> </a:t>
            </a:r>
            <a:r>
              <a:rPr lang="en-US" dirty="0" err="1"/>
              <a:t>cihazın</a:t>
            </a:r>
            <a:r>
              <a:rPr lang="en-US" dirty="0"/>
              <a:t> </a:t>
            </a:r>
            <a:r>
              <a:rPr lang="en-US" dirty="0" err="1"/>
              <a:t>güncellenmesi</a:t>
            </a:r>
            <a:r>
              <a:rPr lang="en-US" dirty="0"/>
              <a:t> </a:t>
            </a:r>
            <a:r>
              <a:rPr lang="en-US" dirty="0" err="1"/>
              <a:t>gerektiğinde</a:t>
            </a:r>
            <a:r>
              <a:rPr lang="en-US" dirty="0"/>
              <a:t>, </a:t>
            </a:r>
            <a:r>
              <a:rPr lang="en-US" dirty="0" err="1"/>
              <a:t>süreç</a:t>
            </a:r>
            <a:r>
              <a:rPr lang="en-US" dirty="0"/>
              <a:t> </a:t>
            </a:r>
            <a:r>
              <a:rPr lang="en-US" b="1" dirty="0"/>
              <a:t>zaman </a:t>
            </a:r>
            <a:r>
              <a:rPr lang="en-US" b="1" dirty="0" err="1"/>
              <a:t>alıcı</a:t>
            </a:r>
            <a:r>
              <a:rPr lang="en-US" b="1" dirty="0"/>
              <a:t>, </a:t>
            </a:r>
            <a:r>
              <a:rPr lang="en-US" b="1" dirty="0" err="1"/>
              <a:t>riskli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maliyetli</a:t>
            </a:r>
            <a:r>
              <a:rPr lang="en-US" dirty="0"/>
              <a:t> hale </a:t>
            </a:r>
            <a:r>
              <a:rPr lang="en-US" dirty="0" err="1"/>
              <a:t>geliyor</a:t>
            </a:r>
            <a:r>
              <a:rPr lang="en-US" dirty="0"/>
              <a:t>.</a:t>
            </a:r>
          </a:p>
          <a:p>
            <a:endParaRPr lang="en-T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CD496-0D2B-CE04-0292-E67480F1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3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86E4-F26E-4472-6325-702FEC3A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Mevcut Yaklaşımlar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A52E-9422-81A9-5048-0F30580FF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Web tabanlı güncelleme çözümleri -&gt; </a:t>
            </a:r>
            <a:r>
              <a:rPr lang="en-TR" b="1" dirty="0"/>
              <a:t>Siber tehditlere</a:t>
            </a:r>
            <a:r>
              <a:rPr lang="en-TR" dirty="0"/>
              <a:t> </a:t>
            </a:r>
            <a:r>
              <a:rPr lang="en-TR" b="1" dirty="0"/>
              <a:t>açık</a:t>
            </a:r>
            <a:r>
              <a:rPr lang="en-TR" dirty="0"/>
              <a:t> ve </a:t>
            </a:r>
            <a:r>
              <a:rPr lang="en-TR" b="1" dirty="0"/>
              <a:t>internet altyapısına bağımlı </a:t>
            </a:r>
            <a:r>
              <a:rPr lang="en-TR" dirty="0"/>
              <a:t>bir yöntemdir. Bu yönleriyle dezavantajlıdır. [1][2]</a:t>
            </a:r>
          </a:p>
          <a:p>
            <a:r>
              <a:rPr lang="en-TR" dirty="0"/>
              <a:t>Wi-Fi destekli güncelleme yöntemleri -&gt; </a:t>
            </a:r>
            <a:r>
              <a:rPr lang="en-US" dirty="0" err="1"/>
              <a:t>Yerel</a:t>
            </a:r>
            <a:r>
              <a:rPr lang="en-US" dirty="0"/>
              <a:t>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altyapısının</a:t>
            </a:r>
            <a:r>
              <a:rPr lang="en-US" dirty="0"/>
              <a:t> </a:t>
            </a:r>
            <a:r>
              <a:rPr lang="en-US" dirty="0" err="1"/>
              <a:t>olmadığı</a:t>
            </a:r>
            <a:r>
              <a:rPr lang="en-US" dirty="0"/>
              <a:t> </a:t>
            </a:r>
            <a:r>
              <a:rPr lang="en-US" dirty="0" err="1"/>
              <a:t>senaryolarda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 err="1"/>
              <a:t>uzun</a:t>
            </a:r>
            <a:r>
              <a:rPr lang="en-US" b="1" dirty="0"/>
              <a:t> </a:t>
            </a:r>
            <a:r>
              <a:rPr lang="en-US" b="1" dirty="0" err="1"/>
              <a:t>menzilli</a:t>
            </a:r>
            <a:r>
              <a:rPr lang="en-US" b="1" dirty="0"/>
              <a:t> </a:t>
            </a:r>
            <a:r>
              <a:rPr lang="en-US" dirty="0" err="1"/>
              <a:t>senaryolarda</a:t>
            </a:r>
            <a:r>
              <a:rPr lang="en-US" dirty="0"/>
              <a:t> </a:t>
            </a:r>
            <a:r>
              <a:rPr lang="en-US" dirty="0" err="1"/>
              <a:t>kullanılması</a:t>
            </a:r>
            <a:r>
              <a:rPr lang="en-US" dirty="0"/>
              <a:t> </a:t>
            </a:r>
            <a:r>
              <a:rPr lang="en-US" dirty="0" err="1"/>
              <a:t>zorlu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yöntemdir</a:t>
            </a:r>
            <a:r>
              <a:rPr lang="en-US" dirty="0"/>
              <a:t>. [1][2]</a:t>
            </a:r>
          </a:p>
          <a:p>
            <a:r>
              <a:rPr lang="en-US" dirty="0" err="1"/>
              <a:t>Kablo</a:t>
            </a:r>
            <a:r>
              <a:rPr lang="en-US" dirty="0"/>
              <a:t> </a:t>
            </a:r>
            <a:r>
              <a:rPr lang="en-US" dirty="0" err="1"/>
              <a:t>bağlantılı</a:t>
            </a:r>
            <a:r>
              <a:rPr lang="en-US" dirty="0"/>
              <a:t> </a:t>
            </a:r>
            <a:r>
              <a:rPr lang="en-US" dirty="0" err="1"/>
              <a:t>güncelleme</a:t>
            </a:r>
            <a:r>
              <a:rPr lang="en-US" dirty="0"/>
              <a:t> </a:t>
            </a:r>
            <a:r>
              <a:rPr lang="en-US" dirty="0" err="1"/>
              <a:t>yöntemleri</a:t>
            </a:r>
            <a:r>
              <a:rPr lang="en-US" dirty="0"/>
              <a:t> -&gt; </a:t>
            </a:r>
            <a:r>
              <a:rPr lang="en-US" b="1" dirty="0" err="1"/>
              <a:t>Fiziksel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erişim</a:t>
            </a:r>
            <a:r>
              <a:rPr lang="en-US" dirty="0"/>
              <a:t> </a:t>
            </a:r>
            <a:r>
              <a:rPr lang="en-US" dirty="0" err="1"/>
              <a:t>şartı</a:t>
            </a:r>
            <a:r>
              <a:rPr lang="en-US" dirty="0"/>
              <a:t> </a:t>
            </a:r>
            <a:r>
              <a:rPr lang="en-US" dirty="0" err="1"/>
              <a:t>olduğundan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çoğunlukla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cihaza</a:t>
            </a:r>
            <a:r>
              <a:rPr lang="en-US" dirty="0"/>
              <a:t> </a:t>
            </a:r>
            <a:r>
              <a:rPr lang="en-US" dirty="0" err="1"/>
              <a:t>hizmet</a:t>
            </a:r>
            <a:r>
              <a:rPr lang="en-US" dirty="0"/>
              <a:t> </a:t>
            </a:r>
            <a:r>
              <a:rPr lang="en-US" dirty="0" err="1"/>
              <a:t>verilebildiğinden</a:t>
            </a:r>
            <a:r>
              <a:rPr lang="en-US" dirty="0"/>
              <a:t> </a:t>
            </a:r>
            <a:r>
              <a:rPr lang="en-US" dirty="0" err="1"/>
              <a:t>dolayı</a:t>
            </a:r>
            <a:r>
              <a:rPr lang="en-US" dirty="0"/>
              <a:t> </a:t>
            </a:r>
            <a:r>
              <a:rPr lang="en-US" b="1" dirty="0" err="1"/>
              <a:t>verimliliği</a:t>
            </a:r>
            <a:r>
              <a:rPr lang="en-US" b="1" dirty="0"/>
              <a:t> </a:t>
            </a:r>
            <a:r>
              <a:rPr lang="en-US" b="1" dirty="0" err="1"/>
              <a:t>düşük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yöntemdir</a:t>
            </a:r>
            <a:r>
              <a:rPr lang="en-US" dirty="0"/>
              <a:t>. [3]</a:t>
            </a:r>
          </a:p>
          <a:p>
            <a:r>
              <a:rPr lang="en-US" dirty="0" err="1"/>
              <a:t>Dahili</a:t>
            </a:r>
            <a:r>
              <a:rPr lang="en-US" dirty="0"/>
              <a:t> RF </a:t>
            </a:r>
            <a:r>
              <a:rPr lang="en-US" dirty="0" err="1"/>
              <a:t>modülü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paketlerin</a:t>
            </a:r>
            <a:r>
              <a:rPr lang="en-US" dirty="0"/>
              <a:t> </a:t>
            </a:r>
            <a:r>
              <a:rPr lang="en-US" dirty="0" err="1"/>
              <a:t>iletilmesi</a:t>
            </a:r>
            <a:r>
              <a:rPr lang="en-US" dirty="0"/>
              <a:t> –&gt; </a:t>
            </a:r>
            <a:r>
              <a:rPr lang="en-US" b="1" dirty="0" err="1"/>
              <a:t>Menzil</a:t>
            </a:r>
            <a:r>
              <a:rPr lang="en-US" b="1" dirty="0"/>
              <a:t> </a:t>
            </a:r>
            <a:r>
              <a:rPr lang="en-US" b="1" dirty="0" err="1"/>
              <a:t>genişletme</a:t>
            </a:r>
            <a:r>
              <a:rPr lang="en-US" b="1" dirty="0"/>
              <a:t> </a:t>
            </a:r>
            <a:r>
              <a:rPr lang="en-US" b="1" dirty="0" err="1"/>
              <a:t>ihtiyacı</a:t>
            </a:r>
            <a:r>
              <a:rPr lang="en-US" b="1" dirty="0"/>
              <a:t> </a:t>
            </a:r>
            <a:r>
              <a:rPr lang="en-US" dirty="0" err="1"/>
              <a:t>olduğu</a:t>
            </a:r>
            <a:r>
              <a:rPr lang="en-US" dirty="0"/>
              <a:t> zaman </a:t>
            </a:r>
            <a:r>
              <a:rPr lang="en-US" b="1" dirty="0" err="1"/>
              <a:t>modüler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çözüm</a:t>
            </a:r>
            <a:r>
              <a:rPr lang="en-US" dirty="0"/>
              <a:t> </a:t>
            </a:r>
            <a:r>
              <a:rPr lang="en-US" dirty="0" err="1"/>
              <a:t>sunmadığından</a:t>
            </a:r>
            <a:r>
              <a:rPr lang="en-US" dirty="0"/>
              <a:t> </a:t>
            </a:r>
            <a:r>
              <a:rPr lang="en-US" dirty="0" err="1"/>
              <a:t>dolayı</a:t>
            </a:r>
            <a:r>
              <a:rPr lang="en-US" dirty="0"/>
              <a:t> </a:t>
            </a:r>
            <a:r>
              <a:rPr lang="en-US" dirty="0" err="1"/>
              <a:t>dezavantajlı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yöntemdir</a:t>
            </a:r>
            <a:r>
              <a:rPr lang="en-US" dirty="0"/>
              <a:t>. [4]</a:t>
            </a:r>
          </a:p>
          <a:p>
            <a:endParaRPr lang="en-US" dirty="0"/>
          </a:p>
          <a:p>
            <a:endParaRPr lang="en-T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C55EC-6114-D5C2-AA86-678A066B7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0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C6A6-C1F2-8C15-209F-69E0FE20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Çözüm Önerisi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BFFB2-12FF-4F23-5248-5275F0462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78C31-83BF-2EB4-6DAF-D19C6A6A5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E36B-407D-4EF3-E057-94ED6613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Amaç ve Hedefler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DDFDD-7EB3-B0AF-5EA0-082458589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Fiziksel</a:t>
            </a:r>
            <a:r>
              <a:rPr lang="en-US" dirty="0"/>
              <a:t> </a:t>
            </a:r>
            <a:r>
              <a:rPr lang="en-US" dirty="0" err="1"/>
              <a:t>erişimi</a:t>
            </a:r>
            <a:r>
              <a:rPr lang="en-US" dirty="0"/>
              <a:t> </a:t>
            </a:r>
            <a:r>
              <a:rPr lang="en-US" dirty="0" err="1"/>
              <a:t>kısıtlı</a:t>
            </a:r>
            <a:r>
              <a:rPr lang="en-US" dirty="0"/>
              <a:t> </a:t>
            </a:r>
            <a:r>
              <a:rPr lang="en-US" dirty="0" err="1"/>
              <a:t>ortamlardaki</a:t>
            </a:r>
            <a:r>
              <a:rPr lang="en-US" dirty="0"/>
              <a:t> </a:t>
            </a:r>
            <a:r>
              <a:rPr lang="en-US" dirty="0" err="1"/>
              <a:t>cihazlara</a:t>
            </a:r>
            <a:r>
              <a:rPr lang="en-US" dirty="0"/>
              <a:t> </a:t>
            </a:r>
            <a:r>
              <a:rPr lang="en-US" dirty="0" err="1"/>
              <a:t>yönelik</a:t>
            </a:r>
            <a:r>
              <a:rPr lang="en-US" dirty="0"/>
              <a:t> RF </a:t>
            </a:r>
            <a:r>
              <a:rPr lang="en-US" dirty="0" err="1"/>
              <a:t>aracılığıyla</a:t>
            </a:r>
            <a:r>
              <a:rPr lang="en-US" dirty="0"/>
              <a:t> </a:t>
            </a:r>
            <a:r>
              <a:rPr lang="en-US" b="1" dirty="0" err="1"/>
              <a:t>kablosuz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uzaktan</a:t>
            </a:r>
            <a:r>
              <a:rPr lang="en-US" b="1" dirty="0"/>
              <a:t> </a:t>
            </a:r>
            <a:r>
              <a:rPr lang="en-US" b="1" dirty="0" err="1"/>
              <a:t>yazılım</a:t>
            </a:r>
            <a:r>
              <a:rPr lang="en-US" b="1" dirty="0"/>
              <a:t> </a:t>
            </a:r>
            <a:r>
              <a:rPr lang="en-US" b="1" dirty="0" err="1"/>
              <a:t>güncelleme</a:t>
            </a:r>
            <a:r>
              <a:rPr lang="en-US" b="1" dirty="0"/>
              <a:t> </a:t>
            </a:r>
            <a:r>
              <a:rPr lang="en-US" b="1" dirty="0" err="1"/>
              <a:t>sistemi</a:t>
            </a:r>
            <a:r>
              <a:rPr lang="en-US" dirty="0"/>
              <a:t> </a:t>
            </a:r>
            <a:r>
              <a:rPr lang="en-US" dirty="0" err="1"/>
              <a:t>geliştirmek</a:t>
            </a:r>
            <a:r>
              <a:rPr lang="en-US" dirty="0"/>
              <a:t>.</a:t>
            </a:r>
          </a:p>
          <a:p>
            <a:r>
              <a:rPr lang="en-US" dirty="0" err="1"/>
              <a:t>Geliştirilen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, </a:t>
            </a:r>
            <a:r>
              <a:rPr lang="en-US" b="1" dirty="0" err="1"/>
              <a:t>güvenli</a:t>
            </a:r>
            <a:r>
              <a:rPr lang="en-US" b="1" dirty="0"/>
              <a:t>, </a:t>
            </a:r>
            <a:r>
              <a:rPr lang="en-US" b="1" dirty="0" err="1"/>
              <a:t>hızlı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hatasız</a:t>
            </a:r>
            <a:r>
              <a:rPr lang="en-US" b="1" dirty="0"/>
              <a:t> </a:t>
            </a:r>
            <a:r>
              <a:rPr lang="en-US" b="1" dirty="0" err="1"/>
              <a:t>güncelleme</a:t>
            </a:r>
            <a:r>
              <a:rPr lang="en-US" dirty="0"/>
              <a:t> </a:t>
            </a:r>
            <a:r>
              <a:rPr lang="en-US" dirty="0" err="1"/>
              <a:t>yapabilmesini</a:t>
            </a:r>
            <a:r>
              <a:rPr lang="en-US" dirty="0"/>
              <a:t> </a:t>
            </a:r>
            <a:r>
              <a:rPr lang="en-US" dirty="0" err="1"/>
              <a:t>sağlamak</a:t>
            </a:r>
            <a:r>
              <a:rPr lang="en-US" dirty="0"/>
              <a:t>.</a:t>
            </a:r>
          </a:p>
          <a:p>
            <a:r>
              <a:rPr lang="en-US" b="1" dirty="0"/>
              <a:t>Birden </a:t>
            </a:r>
            <a:r>
              <a:rPr lang="en-US" b="1" dirty="0" err="1"/>
              <a:t>fazla</a:t>
            </a:r>
            <a:r>
              <a:rPr lang="en-US" b="1" dirty="0"/>
              <a:t> </a:t>
            </a:r>
            <a:r>
              <a:rPr lang="en-US" b="1" dirty="0" err="1"/>
              <a:t>cihazı</a:t>
            </a:r>
            <a:r>
              <a:rPr lang="en-US" b="1" dirty="0"/>
              <a:t> </a:t>
            </a:r>
            <a:r>
              <a:rPr lang="en-US" b="1" dirty="0" err="1"/>
              <a:t>eş</a:t>
            </a:r>
            <a:r>
              <a:rPr lang="en-US" b="1" dirty="0"/>
              <a:t> </a:t>
            </a:r>
            <a:r>
              <a:rPr lang="en-US" b="1" dirty="0" err="1"/>
              <a:t>zamanlı</a:t>
            </a:r>
            <a:r>
              <a:rPr lang="en-US" dirty="0"/>
              <a:t> </a:t>
            </a:r>
            <a:r>
              <a:rPr lang="en-US" dirty="0" err="1"/>
              <a:t>güncelleyerek</a:t>
            </a:r>
            <a:r>
              <a:rPr lang="en-US" dirty="0"/>
              <a:t>, </a:t>
            </a:r>
            <a:r>
              <a:rPr lang="en-US" dirty="0" err="1"/>
              <a:t>geleneksel</a:t>
            </a:r>
            <a:r>
              <a:rPr lang="en-US" dirty="0"/>
              <a:t> </a:t>
            </a:r>
            <a:r>
              <a:rPr lang="en-US" dirty="0" err="1"/>
              <a:t>yöntemlere</a:t>
            </a:r>
            <a:r>
              <a:rPr lang="en-US" dirty="0"/>
              <a:t> </a:t>
            </a:r>
            <a:r>
              <a:rPr lang="en-US" dirty="0" err="1"/>
              <a:t>kıyasla</a:t>
            </a:r>
            <a:r>
              <a:rPr lang="en-US" dirty="0"/>
              <a:t> </a:t>
            </a:r>
            <a:r>
              <a:rPr lang="en-US" b="1" dirty="0"/>
              <a:t>zaman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iş</a:t>
            </a:r>
            <a:r>
              <a:rPr lang="en-US" b="1" dirty="0"/>
              <a:t> </a:t>
            </a:r>
            <a:r>
              <a:rPr lang="en-US" b="1" dirty="0" err="1"/>
              <a:t>gücü</a:t>
            </a:r>
            <a:r>
              <a:rPr lang="en-US" b="1" dirty="0"/>
              <a:t> </a:t>
            </a:r>
            <a:r>
              <a:rPr lang="en-US" b="1" dirty="0" err="1"/>
              <a:t>verimliliği</a:t>
            </a:r>
            <a:r>
              <a:rPr lang="en-US" dirty="0"/>
              <a:t> 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2A678-933B-486F-E25C-79ACB403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63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FBA68A5-A7C7-4D91-AB95-6E0B6FFD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051E3-92B2-42FC-BB3D-372E4A614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C425084-C97A-4C25-AE47-DDECF2DD3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A478A1-0B34-4F2B-88FA-CF47551E5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6596AA9-B120-4DE3-9A80-7DB4BD122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1C5958-2C3B-A1A0-D8B0-64C2A4E6BA7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77800"/>
            <a:ext cx="97536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30DD-0664-6C3B-2704-88B229142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Sistem Mimarisi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2BA28-DB03-45F3-9DAF-E5F949A00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8</a:t>
            </a:fld>
            <a:endParaRPr lang="en-US"/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17185D69-D221-D980-0275-EE85DE94F946}"/>
              </a:ext>
            </a:extLst>
          </p:cNvPr>
          <p:cNvSpPr/>
          <p:nvPr/>
        </p:nvSpPr>
        <p:spPr>
          <a:xfrm>
            <a:off x="368997" y="2108593"/>
            <a:ext cx="2015999" cy="11520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Güncelleme paketinin bilgisayarda hazırlanması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74C225-8753-D804-C759-63153DE8A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9486" y="2108593"/>
            <a:ext cx="2015999" cy="1152000"/>
          </a:xfrm>
          <a:prstGeom prst="homePlat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TR" dirty="0"/>
              <a:t>Paketin master cihaza aktarılması</a:t>
            </a: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92DE719E-35AD-E80B-EA1A-C1A7E716BB37}"/>
              </a:ext>
            </a:extLst>
          </p:cNvPr>
          <p:cNvSpPr/>
          <p:nvPr/>
        </p:nvSpPr>
        <p:spPr>
          <a:xfrm>
            <a:off x="2681890" y="2108593"/>
            <a:ext cx="2026220" cy="114756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Paket üzerinde Hash, imza ve CRC işlemlerinin yapılması</a:t>
            </a: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19FB91DC-2FF1-7B53-2541-F22B5F091458}"/>
              </a:ext>
            </a:extLst>
          </p:cNvPr>
          <p:cNvSpPr/>
          <p:nvPr/>
        </p:nvSpPr>
        <p:spPr>
          <a:xfrm>
            <a:off x="7326861" y="2108593"/>
            <a:ext cx="2026220" cy="114756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RF aracılığıyla güncellemenin slave cihazlara aktarılması</a:t>
            </a: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767BA0AD-FF3A-B30A-9D3A-F44A4F4A80A9}"/>
              </a:ext>
            </a:extLst>
          </p:cNvPr>
          <p:cNvSpPr/>
          <p:nvPr/>
        </p:nvSpPr>
        <p:spPr>
          <a:xfrm rot="5400000">
            <a:off x="8692058" y="3692706"/>
            <a:ext cx="2520000" cy="144000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TR" dirty="0"/>
              <a:t>Paket üzerinde Hash, imza ve CRC çözümleme işlemlerinin yapılması</a:t>
            </a: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0E11568D-96E4-9059-67E2-E42D98B48DB8}"/>
              </a:ext>
            </a:extLst>
          </p:cNvPr>
          <p:cNvSpPr/>
          <p:nvPr/>
        </p:nvSpPr>
        <p:spPr>
          <a:xfrm rot="10800000">
            <a:off x="6781800" y="4674902"/>
            <a:ext cx="2026220" cy="120032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>
            <a:noAutofit/>
          </a:bodyPr>
          <a:lstStyle/>
          <a:p>
            <a:pPr algn="ctr"/>
            <a:endParaRPr lang="en-T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5997C-C712-E9B7-5970-BD2681EE3789}"/>
              </a:ext>
            </a:extLst>
          </p:cNvPr>
          <p:cNvSpPr txBox="1"/>
          <p:nvPr/>
        </p:nvSpPr>
        <p:spPr>
          <a:xfrm>
            <a:off x="7298181" y="4674902"/>
            <a:ext cx="1688209" cy="1200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>
                <a:solidFill>
                  <a:schemeClr val="bg1"/>
                </a:solidFill>
              </a:rPr>
              <a:t>Doğrulanan güncellemenin sisteme uygulanması</a:t>
            </a:r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CA9B8573-0D67-B43C-B2B7-63575A262121}"/>
              </a:ext>
            </a:extLst>
          </p:cNvPr>
          <p:cNvSpPr/>
          <p:nvPr/>
        </p:nvSpPr>
        <p:spPr>
          <a:xfrm rot="10800000">
            <a:off x="4449760" y="4674903"/>
            <a:ext cx="2026220" cy="120032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>
            <a:noAutofit/>
          </a:bodyPr>
          <a:lstStyle/>
          <a:p>
            <a:pPr algn="ctr"/>
            <a:endParaRPr lang="en-T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C62295-184D-CC10-1E1A-47638976C646}"/>
              </a:ext>
            </a:extLst>
          </p:cNvPr>
          <p:cNvSpPr txBox="1"/>
          <p:nvPr/>
        </p:nvSpPr>
        <p:spPr>
          <a:xfrm>
            <a:off x="4847923" y="4813402"/>
            <a:ext cx="1688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>
                <a:solidFill>
                  <a:schemeClr val="bg1"/>
                </a:solidFill>
              </a:rPr>
              <a:t>Sistemin yeni yazılım ile ayağa kaldırılması</a:t>
            </a:r>
          </a:p>
        </p:txBody>
      </p:sp>
    </p:spTree>
    <p:extLst>
      <p:ext uri="{BB962C8B-B14F-4D97-AF65-F5344CB8AC3E}">
        <p14:creationId xmlns:p14="http://schemas.microsoft.com/office/powerpoint/2010/main" val="3319200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DA4D-E0BE-384E-0432-F4CD69FB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Kullanılan Teknolojiler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0B73B-2599-0020-A828-8B1963602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Donanım –&gt; STM32, NRF24L01</a:t>
            </a:r>
          </a:p>
          <a:p>
            <a:r>
              <a:rPr lang="en-TR" dirty="0"/>
              <a:t>Yazılım ve Protokoller –&gt; SPI, UART, HASH-256, CRC, Ed25519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3545E-63D2-1710-F9D2-57247F9C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33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9A04-6C71-2A52-76A8-21B83ED4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Talepler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B19ED-676C-7F8A-8842-12EBE7FC7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Mentörlük ve danışmanlık sağlanması</a:t>
            </a:r>
          </a:p>
          <a:p>
            <a:r>
              <a:rPr lang="en-TR" dirty="0"/>
              <a:t>Donanımlar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bütçe</a:t>
            </a:r>
            <a:r>
              <a:rPr lang="en-US" dirty="0"/>
              <a:t> </a:t>
            </a:r>
            <a:r>
              <a:rPr lang="en-US" dirty="0" err="1"/>
              <a:t>desteği</a:t>
            </a:r>
            <a:r>
              <a:rPr lang="en-US" dirty="0"/>
              <a:t> </a:t>
            </a:r>
            <a:r>
              <a:rPr lang="en-US" dirty="0" err="1"/>
              <a:t>sağlanması</a:t>
            </a:r>
            <a:endParaRPr lang="en-T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6D0E4-9AD9-CB64-3138-34F778DD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18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2012-B145-8749-447B-187D68221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İletişim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C7254-A2F3-953C-2946-B13515F33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Hasan Tayfur</a:t>
            </a:r>
          </a:p>
          <a:p>
            <a:r>
              <a:rPr lang="en-TR" dirty="0">
                <a:hlinkClick r:id="rId2"/>
              </a:rPr>
              <a:t>hthasantayfur@gmail.com</a:t>
            </a:r>
            <a:endParaRPr lang="en-TR" dirty="0"/>
          </a:p>
          <a:p>
            <a:r>
              <a:rPr lang="en-TR" dirty="0"/>
              <a:t>0539 652 0169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19DD4-0585-A6B4-1A6F-57D615F2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54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EB8D-FB72-41C8-D9BF-9F022DE9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Kaynakça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FB43C-E6F6-9164-9C54-9703BD6D1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TR" dirty="0"/>
              <a:t>[1] </a:t>
            </a:r>
            <a:r>
              <a:rPr lang="en-US" dirty="0"/>
              <a:t>Gupta, P. (2020). A decentralized approach towards secure firmware updates and testing over commercial IoT Devices. </a:t>
            </a:r>
            <a:r>
              <a:rPr lang="en-US" i="1" dirty="0" err="1"/>
              <a:t>arXiv</a:t>
            </a:r>
            <a:r>
              <a:rPr lang="en-US" i="1" dirty="0"/>
              <a:t> preprint arXiv:2011.12052</a:t>
            </a:r>
            <a:r>
              <a:rPr lang="en-US" dirty="0"/>
              <a:t>.</a:t>
            </a:r>
            <a:endParaRPr lang="en-TR" dirty="0"/>
          </a:p>
          <a:p>
            <a:r>
              <a:rPr lang="en-TR" dirty="0"/>
              <a:t>[2] </a:t>
            </a:r>
            <a:r>
              <a:rPr lang="en-US" dirty="0"/>
              <a:t>El Jaouhari, S., &amp; Bouvet, E. (2022, January). Toward a generic and secure bootloader for IoT device firmware OTA update. In </a:t>
            </a:r>
            <a:r>
              <a:rPr lang="en-US" i="1" dirty="0"/>
              <a:t>2022 International Conference on Information Networking (ICOIN)</a:t>
            </a:r>
            <a:r>
              <a:rPr lang="en-US" dirty="0"/>
              <a:t> (pp. 90-95). IEEE.</a:t>
            </a:r>
            <a:endParaRPr lang="en-TR" dirty="0"/>
          </a:p>
          <a:p>
            <a:r>
              <a:rPr lang="en-TR" dirty="0"/>
              <a:t>[3] </a:t>
            </a:r>
            <a:r>
              <a:rPr lang="en-US" dirty="0"/>
              <a:t>Zhang, K., Chen, S., Wei, J., Ding, L., &amp; Liu, M. (2020, November). Design of the Flight Controller Software Update System of Missiles With GJB 1188A Interface Under Whole Missile State. In </a:t>
            </a:r>
            <a:r>
              <a:rPr lang="en-US" i="1" dirty="0"/>
              <a:t>2020 Chinese Automation Congress (CAC)</a:t>
            </a:r>
            <a:r>
              <a:rPr lang="en-US" dirty="0"/>
              <a:t> (pp. 3250-3254). IEEE.</a:t>
            </a:r>
          </a:p>
          <a:p>
            <a:r>
              <a:rPr lang="en-US" dirty="0"/>
              <a:t>[4] </a:t>
            </a:r>
            <a:r>
              <a:rPr lang="en-US" dirty="0" err="1"/>
              <a:t>Kerliu</a:t>
            </a:r>
            <a:r>
              <a:rPr lang="en-US" dirty="0"/>
              <a:t>, K., Ross, A., Tao, G., Yun, Z., Shi, Z., Han, S., &amp; Zhou, S. (2019, November). Secure over-the-air firmware updates for sensor networks. In </a:t>
            </a:r>
            <a:r>
              <a:rPr lang="en-US" i="1" dirty="0"/>
              <a:t>2019 IEEE 16th International Conference on Mobile Ad Hoc and Sensor Systems Workshops (MASSW)</a:t>
            </a:r>
            <a:r>
              <a:rPr lang="en-US" dirty="0"/>
              <a:t> (pp. 97-100). IEEE.</a:t>
            </a:r>
          </a:p>
          <a:p>
            <a:endParaRPr lang="en-T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6F2FC-A6D4-A3AF-F4C1-41F979DD6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C36F-4504-47C0-B82F-A167342A275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86926"/>
      </p:ext>
    </p:extLst>
  </p:cSld>
  <p:clrMapOvr>
    <a:masterClrMapping/>
  </p:clrMapOvr>
</p:sld>
</file>

<file path=ppt/theme/theme1.xml><?xml version="1.0" encoding="utf-8"?>
<a:theme xmlns:a="http://schemas.openxmlformats.org/drawingml/2006/main" name="MemoVTI">
  <a:themeElements>
    <a:clrScheme name="Custom 73">
      <a:dk1>
        <a:sysClr val="windowText" lastClr="000000"/>
      </a:dk1>
      <a:lt1>
        <a:sysClr val="window" lastClr="FFFFFF"/>
      </a:lt1>
      <a:dk2>
        <a:srgbClr val="192033"/>
      </a:dk2>
      <a:lt2>
        <a:srgbClr val="F3EAD9"/>
      </a:lt2>
      <a:accent1>
        <a:srgbClr val="ED625F"/>
      </a:accent1>
      <a:accent2>
        <a:srgbClr val="2F4FA7"/>
      </a:accent2>
      <a:accent3>
        <a:srgbClr val="76A899"/>
      </a:accent3>
      <a:accent4>
        <a:srgbClr val="D4669D"/>
      </a:accent4>
      <a:accent5>
        <a:srgbClr val="F2855A"/>
      </a:accent5>
      <a:accent6>
        <a:srgbClr val="C44732"/>
      </a:accent6>
      <a:hlink>
        <a:srgbClr val="3F7AAF"/>
      </a:hlink>
      <a:folHlink>
        <a:srgbClr val="9E4687"/>
      </a:folHlink>
    </a:clrScheme>
    <a:fontScheme name="Elephant Univers Condensed">
      <a:majorFont>
        <a:latin typeface="Elephant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vert="horz" rtlCol="0" anchor="ctr">
        <a:noAutofit/>
      </a:bodyPr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emoVTI" id="{DF30D94D-D909-45F8-8565-C675708280D4}" vid="{636A8D8B-0354-48FA-9492-83E81C2616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601</Words>
  <Application>Microsoft Macintosh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Elephant</vt:lpstr>
      <vt:lpstr>Univers Condensed</vt:lpstr>
      <vt:lpstr>MemoVTI</vt:lpstr>
      <vt:lpstr>STM32 Tabanlı Gömülü Sistemler için Bütünlük ve Kimlik Doğrulamalı OTA Yazılım Güncelleme Yöntemi </vt:lpstr>
      <vt:lpstr>Giriş</vt:lpstr>
      <vt:lpstr>Problemin Tanımı</vt:lpstr>
      <vt:lpstr>Mevcut Yaklaşımlar</vt:lpstr>
      <vt:lpstr>Çözüm Önerisi</vt:lpstr>
      <vt:lpstr>Amaç ve Hedefler</vt:lpstr>
      <vt:lpstr>PowerPoint Presentation</vt:lpstr>
      <vt:lpstr>Sistem Mimarisi</vt:lpstr>
      <vt:lpstr>Kullanılan Teknolojiler</vt:lpstr>
      <vt:lpstr>Talepler</vt:lpstr>
      <vt:lpstr>İletişim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 Tayfur</dc:creator>
  <cp:lastModifiedBy>Hasan Tayfur</cp:lastModifiedBy>
  <cp:revision>4</cp:revision>
  <dcterms:created xsi:type="dcterms:W3CDTF">2025-07-17T23:45:21Z</dcterms:created>
  <dcterms:modified xsi:type="dcterms:W3CDTF">2025-07-18T22:46:54Z</dcterms:modified>
</cp:coreProperties>
</file>